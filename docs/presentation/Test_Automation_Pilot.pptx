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17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74519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174E6"/>
                </a:solidFill>
                <a:latin typeface="Ericsson Hilda"/>
              </a:rPr>
              <a:t>AI-POWERED TESTING ADVISOR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28600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200" b="1">
                <a:solidFill>
                  <a:srgbClr val="181818"/>
                </a:solidFill>
                <a:latin typeface="Ericsson Hilda Light"/>
              </a:rPr>
              <a:t>Test Automation 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1188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Ericsson Hilda"/>
              </a:rPr>
              <a:t>Evaluate, migrate, and verify test automation frameworks — an AI assistant that recommends the right framework, converts test suites between frameworks, generates automated tests from manual cases, and proves nothing was lost in migration.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029200"/>
            <a:ext cx="1732788" cy="365760"/>
          </a:xfrm>
          <a:prstGeom prst="roundRect">
            <a:avLst>
              <a:gd name="adj" fmla="val 8000"/>
            </a:avLst>
          </a:prstGeom>
          <a:solidFill>
            <a:srgbClr val="EA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029200"/>
            <a:ext cx="145846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174E6"/>
                </a:solidFill>
                <a:latin typeface="Ericsson Hilda"/>
              </a:rPr>
              <a:t>Framework Advisor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4348" y="5029200"/>
            <a:ext cx="1472184" cy="365760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1508" y="5029200"/>
            <a:ext cx="119786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58A4D"/>
                </a:solidFill>
                <a:latin typeface="Ericsson Hilda"/>
              </a:rPr>
              <a:t>Code Migration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5132" y="5029200"/>
            <a:ext cx="1559052" cy="365760"/>
          </a:xfrm>
          <a:prstGeom prst="roundRect">
            <a:avLst>
              <a:gd name="adj" fmla="val 8000"/>
            </a:avLst>
          </a:prstGeom>
          <a:solidFill>
            <a:srgbClr val="FDF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2292" y="5029200"/>
            <a:ext cx="128473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66E19"/>
                </a:solidFill>
                <a:latin typeface="Ericsson Hilda"/>
              </a:rPr>
              <a:t>Test Generation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5029200"/>
            <a:ext cx="1732788" cy="365760"/>
          </a:xfrm>
          <a:prstGeom prst="roundRect">
            <a:avLst>
              <a:gd name="adj" fmla="val 8000"/>
            </a:avLst>
          </a:prstGeom>
          <a:solidFill>
            <a:srgbClr val="EFE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9944" y="5029200"/>
            <a:ext cx="145846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4EE6"/>
                </a:solidFill>
                <a:latin typeface="Ericsson Hilda"/>
              </a:rPr>
              <a:t>Coverage &amp; Parity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897880"/>
            <a:ext cx="10515600" cy="10972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03504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Ericsson Hilda"/>
              </a:rPr>
              <a:t>Client Briefing  •  Capabilities, Architecture &amp; Features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9601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174E6"/>
                </a:solidFill>
                <a:latin typeface="Ericsson Hilda"/>
              </a:rPr>
              <a:t>TEST AUTOMATION 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81818"/>
                </a:solidFill>
                <a:latin typeface="Ericsson Hilda Light"/>
              </a:rPr>
              <a:t>What Test Automation Pilot Does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1109167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91672" cy="10972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68712" y="6519672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55555"/>
                </a:solidFill>
                <a:latin typeface="Ericsson Hilda"/>
              </a:rPr>
              <a:t>02 /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11091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55555"/>
                </a:solidFill>
                <a:latin typeface="Ericsson Hilda"/>
              </a:rPr>
              <a:t>One assistant across the full framework lifecycle — from picking a framework, to migrating existing suites, to proving the migration is complete. It runs as a web app and as an MCP server any AI client can call.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2670048" cy="3456432"/>
          </a:xfrm>
          <a:prstGeom prst="roundRect">
            <a:avLst>
              <a:gd name="adj" fmla="val 8000"/>
            </a:avLst>
          </a:prstGeom>
          <a:solidFill>
            <a:srgbClr val="FAFCFF"/>
          </a:solidFill>
          <a:ln w="12700">
            <a:solidFill>
              <a:srgbClr val="EA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2121408"/>
            <a:ext cx="2395728" cy="365760"/>
          </a:xfrm>
          <a:prstGeom prst="roundRect">
            <a:avLst>
              <a:gd name="adj" fmla="val 8000"/>
            </a:avLst>
          </a:prstGeom>
          <a:solidFill>
            <a:srgbClr val="EA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21408"/>
            <a:ext cx="212140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174E6"/>
                </a:solidFill>
                <a:latin typeface="Ericsson Hilda"/>
              </a:rPr>
              <a:t>CHOOSE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70048"/>
            <a:ext cx="230428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81818"/>
                </a:solidFill>
                <a:latin typeface="Ericsson Hilda"/>
              </a:rPr>
              <a:t>Recommend &amp; score frameworks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56432"/>
            <a:ext cx="235000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555555"/>
                </a:solidFill>
                <a:latin typeface="Ericsson Hilda"/>
              </a:rPr>
              <a:t>•  Weighted scorecards across 7 criteria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555555"/>
                </a:solidFill>
                <a:latin typeface="Ericsson Hilda"/>
              </a:rPr>
              <a:t>•  Compare any frameworks side by side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555555"/>
                </a:solidFill>
                <a:latin typeface="Ericsson Hilda"/>
              </a:rPr>
              <a:t>•  20+ frameworks in a curated knowledge base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74136" y="1965960"/>
            <a:ext cx="2670048" cy="3456432"/>
          </a:xfrm>
          <a:prstGeom prst="roundRect">
            <a:avLst>
              <a:gd name="adj" fmla="val 8000"/>
            </a:avLst>
          </a:prstGeom>
          <a:solidFill>
            <a:srgbClr val="FAFCFF"/>
          </a:solidFill>
          <a:ln w="12700">
            <a:solidFill>
              <a:srgbClr val="E8F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11296" y="2121408"/>
            <a:ext cx="2395728" cy="365760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48456" y="2121408"/>
            <a:ext cx="212140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58A4D"/>
                </a:solidFill>
                <a:latin typeface="Ericsson Hilda"/>
              </a:rPr>
              <a:t>MIGRATE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7016" y="2670048"/>
            <a:ext cx="230428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81818"/>
                </a:solidFill>
                <a:latin typeface="Ericsson Hilda"/>
              </a:rPr>
              <a:t>Convert test code between frameworks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7016" y="3456432"/>
            <a:ext cx="235000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555555"/>
                </a:solidFill>
                <a:latin typeface="Ericsson Hilda"/>
              </a:rPr>
              <a:t>•  Selenium &lt;-&gt; Playwright, K6 -&gt; Robot, etc.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555555"/>
                </a:solidFill>
                <a:latin typeface="Ericsson Hilda"/>
              </a:rPr>
              <a:t>•  Every assertion preserved &amp; auto-validated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555555"/>
                </a:solidFill>
                <a:latin typeface="Ericsson Hilda"/>
              </a:rPr>
              <a:t>•  Phased migration roadmaps with effort sizing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1" y="1965960"/>
            <a:ext cx="2670048" cy="3456432"/>
          </a:xfrm>
          <a:prstGeom prst="roundRect">
            <a:avLst>
              <a:gd name="adj" fmla="val 8000"/>
            </a:avLst>
          </a:prstGeom>
          <a:solidFill>
            <a:srgbClr val="FAFCFF"/>
          </a:solidFill>
          <a:ln w="12700">
            <a:solidFill>
              <a:srgbClr val="FDF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36792" y="2121408"/>
            <a:ext cx="2395728" cy="365760"/>
          </a:xfrm>
          <a:prstGeom prst="roundRect">
            <a:avLst>
              <a:gd name="adj" fmla="val 8000"/>
            </a:avLst>
          </a:prstGeom>
          <a:solidFill>
            <a:srgbClr val="FDF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2121408"/>
            <a:ext cx="212140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66E19"/>
                </a:solidFill>
                <a:latin typeface="Ericsson Hilda"/>
              </a:rPr>
              <a:t>GENERATE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2670048"/>
            <a:ext cx="230428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81818"/>
                </a:solidFill>
                <a:latin typeface="Ericsson Hilda"/>
              </a:rPr>
              <a:t>Manual test cases -&gt; runnable 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3456432"/>
            <a:ext cx="235000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555555"/>
                </a:solidFill>
                <a:latin typeface="Ericsson Hilda"/>
              </a:rPr>
              <a:t>•  Playwright, Selenium, Cypress, Robot...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555555"/>
                </a:solidFill>
                <a:latin typeface="Ericsson Hilda"/>
              </a:rPr>
              <a:t>•  Page objects, fixtures, run commands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555555"/>
                </a:solidFill>
                <a:latin typeface="Ericsson Hilda"/>
              </a:rPr>
              <a:t>•  Boilerplate project scaffolding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25128" y="1965960"/>
            <a:ext cx="2670048" cy="3456432"/>
          </a:xfrm>
          <a:prstGeom prst="roundRect">
            <a:avLst>
              <a:gd name="adj" fmla="val 8000"/>
            </a:avLst>
          </a:prstGeom>
          <a:solidFill>
            <a:srgbClr val="FAFCFF"/>
          </a:solidFill>
          <a:ln w="12700">
            <a:solidFill>
              <a:srgbClr val="EFE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62288" y="2121408"/>
            <a:ext cx="2395728" cy="365760"/>
          </a:xfrm>
          <a:prstGeom prst="roundRect">
            <a:avLst>
              <a:gd name="adj" fmla="val 8000"/>
            </a:avLst>
          </a:prstGeom>
          <a:solidFill>
            <a:srgbClr val="EFE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99448" y="2121408"/>
            <a:ext cx="212140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4EE6"/>
                </a:solidFill>
                <a:latin typeface="Ericsson Hilda"/>
              </a:rP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08007" y="2670048"/>
            <a:ext cx="230428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81818"/>
                </a:solidFill>
                <a:latin typeface="Ericsson Hilda"/>
              </a:rPr>
              <a:t>Prove coverage &amp; parity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8007" y="3456432"/>
            <a:ext cx="235000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555555"/>
                </a:solidFill>
                <a:latin typeface="Ericsson Hilda"/>
              </a:rPr>
              <a:t>•  Test-case x framework coverage matrix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555555"/>
                </a:solidFill>
                <a:latin typeface="Ericsson Hilda"/>
              </a:rPr>
              <a:t>•  Cross-repo assertion-parity reports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555555"/>
                </a:solidFill>
                <a:latin typeface="Ericsson Hilda"/>
              </a:rPr>
              <a:t>•  Catches silently dropped tests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852160"/>
            <a:ext cx="11091672" cy="457200"/>
          </a:xfrm>
          <a:prstGeom prst="roundRect">
            <a:avLst>
              <a:gd name="adj" fmla="val 8000"/>
            </a:avLst>
          </a:prstGeom>
          <a:solidFill>
            <a:srgbClr val="FAFCFF"/>
          </a:solidFill>
          <a:ln w="9525">
            <a:solidFill>
              <a:srgbClr val="EA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81818"/>
                </a:solidFill>
                <a:latin typeface="Ericsson Hilda"/>
              </a:rPr>
              <a:t/>
            </a:r>
            <a:r>
              <a:rPr sz="1250" b="1">
                <a:solidFill>
                  <a:srgbClr val="1174E6"/>
                </a:solidFill>
                <a:latin typeface="Ericsson Hilda"/>
              </a:rPr>
              <a:t>Takeaway  </a:t>
            </a:r>
            <a:r>
              <a:rPr sz="1200" b="0">
                <a:solidFill>
                  <a:srgbClr val="181818"/>
                </a:solidFill>
                <a:latin typeface="Ericsson Hilda"/>
              </a:rPr>
              <a:t>Replaces scattered manual judgement, hand-porting, and guesswork with one AI-assisted, evidence-backed workflow.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9601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174E6"/>
                </a:solidFill>
                <a:latin typeface="Ericsson Hilda"/>
              </a:rPr>
              <a:t>TEST AUTOMATION 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81818"/>
                </a:solidFill>
                <a:latin typeface="Ericsson Hilda Light"/>
              </a:rPr>
              <a:t>Architecture — How It Fits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1109167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91672" cy="10972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68712" y="6519672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55555"/>
                </a:solidFill>
                <a:latin typeface="Ericsson Hilda"/>
              </a:rPr>
              <a:t>03 / 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486400" cy="566928"/>
          </a:xfrm>
          <a:prstGeom prst="roundRect">
            <a:avLst>
              <a:gd name="adj" fmla="val 8000"/>
            </a:avLst>
          </a:prstGeom>
          <a:solidFill>
            <a:srgbClr val="EAF1FD"/>
          </a:solidFill>
          <a:ln w="12700">
            <a:solidFill>
              <a:srgbClr val="0B4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5212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B4EA8"/>
                </a:solidFill>
                <a:latin typeface="Ericsson Hilda"/>
              </a:rPr>
              <a:t>Users &amp; AI Clients</a:t>
            </a:r>
          </a:p>
          <a:p>
            <a:pPr algn="ctr">
              <a:spcBef>
                <a:spcPts val="100"/>
              </a:spcBef>
              <a:spcAft>
                <a:spcPts val="400"/>
              </a:spcAft>
            </a:pPr>
            <a:r>
              <a:rPr sz="850" b="0">
                <a:solidFill>
                  <a:srgbClr val="555555"/>
                </a:solidFill>
                <a:latin typeface="Ericsson Hilda"/>
              </a:rPr>
              <a:t>Testers / QA leads  •  Kiro &amp; other MCP-aware assistants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56816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55555"/>
                </a:solidFill>
                <a:latin typeface="Ericsson Hilda"/>
              </a:rPr>
              <a:t>v   uses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57984"/>
            <a:ext cx="2670048" cy="566928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 w="12700">
            <a:solidFill>
              <a:srgbClr val="158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23957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58A4D"/>
                </a:solidFill>
                <a:latin typeface="Ericsson Hilda"/>
              </a:rPr>
              <a:t>Streamlit Web App</a:t>
            </a:r>
          </a:p>
          <a:p>
            <a:pPr algn="ctr">
              <a:spcBef>
                <a:spcPts val="100"/>
              </a:spcBef>
              <a:spcAft>
                <a:spcPts val="400"/>
              </a:spcAft>
            </a:pPr>
            <a:r>
              <a:rPr sz="850" b="0">
                <a:solidFill>
                  <a:srgbClr val="555555"/>
                </a:solidFill>
                <a:latin typeface="Ericsson Hilda"/>
              </a:rPr>
              <a:t>5 guided feature pages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4992" y="2157984"/>
            <a:ext cx="2670048" cy="566928"/>
          </a:xfrm>
          <a:prstGeom prst="roundRect">
            <a:avLst>
              <a:gd name="adj" fmla="val 8000"/>
            </a:avLst>
          </a:prstGeom>
          <a:solidFill>
            <a:srgbClr val="EFEBFD"/>
          </a:solidFill>
          <a:ln w="12700">
            <a:solidFill>
              <a:srgbClr val="6B4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02152" y="2157984"/>
            <a:ext cx="23957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6B4EE6"/>
                </a:solidFill>
                <a:latin typeface="Ericsson Hilda"/>
              </a:rPr>
              <a:t>MCP Server</a:t>
            </a:r>
          </a:p>
          <a:p>
            <a:pPr algn="ctr">
              <a:spcBef>
                <a:spcPts val="100"/>
              </a:spcBef>
              <a:spcAft>
                <a:spcPts val="400"/>
              </a:spcAft>
            </a:pPr>
            <a:r>
              <a:rPr sz="850" b="0">
                <a:solidFill>
                  <a:srgbClr val="555555"/>
                </a:solidFill>
                <a:latin typeface="Ericsson Hilda"/>
              </a:rPr>
              <a:t>20+ tools over stdio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743200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55555"/>
                </a:solidFill>
                <a:latin typeface="Ericsson Hilda"/>
              </a:rPr>
              <a:t>v   drive the same 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944368"/>
            <a:ext cx="5486400" cy="822960"/>
          </a:xfrm>
          <a:prstGeom prst="roundRect">
            <a:avLst>
              <a:gd name="adj" fmla="val 8000"/>
            </a:avLst>
          </a:prstGeom>
          <a:solidFill>
            <a:srgbClr val="FAFCFF"/>
          </a:solidFill>
          <a:ln w="12700">
            <a:solidFill>
              <a:srgbClr val="11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944368"/>
            <a:ext cx="52120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174E6"/>
                </a:solidFill>
                <a:latin typeface="Ericsson Hilda"/>
              </a:rPr>
              <a:t>Core Engine</a:t>
            </a:r>
          </a:p>
          <a:p>
            <a:pPr algn="ctr">
              <a:spcBef>
                <a:spcPts val="100"/>
              </a:spcBef>
              <a:spcAft>
                <a:spcPts val="400"/>
              </a:spcAft>
            </a:pPr>
            <a:r>
              <a:rPr sz="850" b="0">
                <a:solidFill>
                  <a:srgbClr val="555555"/>
                </a:solidFill>
                <a:latin typeface="Ericsson Hilda"/>
              </a:rPr>
              <a:t>Scoring  •  Migration planner  •  Code converter  •  Codegen  •  Coverage &amp; repo-parity  •  Team profiles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785615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55555"/>
                </a:solidFill>
                <a:latin typeface="Ericsson Hilda"/>
              </a:rPr>
              <a:t>v   grounded by / calls out 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86784"/>
            <a:ext cx="2670048" cy="868680"/>
          </a:xfrm>
          <a:prstGeom prst="roundRect">
            <a:avLst>
              <a:gd name="adj" fmla="val 8000"/>
            </a:avLst>
          </a:prstGeom>
          <a:solidFill>
            <a:srgbClr val="FDF2DF"/>
          </a:solidFill>
          <a:ln w="12700">
            <a:solidFill>
              <a:srgbClr val="E66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86784"/>
            <a:ext cx="239572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66E19"/>
                </a:solidFill>
                <a:latin typeface="Ericsson Hilda"/>
              </a:rPr>
              <a:t>Knowledge Base</a:t>
            </a:r>
          </a:p>
          <a:p>
            <a:pPr algn="ctr">
              <a:spcBef>
                <a:spcPts val="100"/>
              </a:spcBef>
              <a:spcAft>
                <a:spcPts val="400"/>
              </a:spcAft>
            </a:pPr>
            <a:r>
              <a:rPr sz="850" b="0">
                <a:solidFill>
                  <a:srgbClr val="555555"/>
                </a:solidFill>
                <a:latin typeface="Ericsson Hilda"/>
              </a:rPr>
              <a:t>Curated YAML + knowledge graph; 20+ frameworks; live discovery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64992" y="3986784"/>
            <a:ext cx="2670048" cy="868680"/>
          </a:xfrm>
          <a:prstGeom prst="roundRect">
            <a:avLst>
              <a:gd name="adj" fmla="val 8000"/>
            </a:avLst>
          </a:prstGeom>
          <a:solidFill>
            <a:srgbClr val="FCECEE"/>
          </a:solidFill>
          <a:ln w="12700">
            <a:solidFill>
              <a:srgbClr val="E65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02152" y="3986784"/>
            <a:ext cx="239572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65D6A"/>
                </a:solidFill>
                <a:latin typeface="Ericsson Hilda"/>
              </a:rPr>
              <a:t>LLM Provider</a:t>
            </a:r>
          </a:p>
          <a:p>
            <a:pPr algn="ctr">
              <a:spcBef>
                <a:spcPts val="100"/>
              </a:spcBef>
              <a:spcAft>
                <a:spcPts val="400"/>
              </a:spcAft>
            </a:pPr>
            <a:r>
              <a:rPr sz="850" b="0">
                <a:solidFill>
                  <a:srgbClr val="555555"/>
                </a:solidFill>
                <a:latin typeface="Ericsson Hilda"/>
              </a:rPr>
              <a:t>Groq / Gemini API, or the AI client's own model via MCP sampling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074920"/>
            <a:ext cx="5486400" cy="713232"/>
          </a:xfrm>
          <a:prstGeom prst="roundRect">
            <a:avLst>
              <a:gd name="adj" fmla="val 8000"/>
            </a:avLst>
          </a:prstGeom>
          <a:solidFill>
            <a:srgbClr val="FFF8E6"/>
          </a:solidFill>
          <a:ln w="12700">
            <a:solidFill>
              <a:srgbClr val="E66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5120640"/>
            <a:ext cx="515721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81818"/>
                </a:solidFill>
                <a:latin typeface="Ericsson Hilda"/>
              </a:rPr>
              <a:t/>
            </a:r>
            <a:r>
              <a:rPr sz="1050" b="1">
                <a:solidFill>
                  <a:srgbClr val="E66E19"/>
                </a:solidFill>
                <a:latin typeface="Ericsson Hilda"/>
              </a:rPr>
              <a:t>Needs an LLM:  </a:t>
            </a:r>
            <a:r>
              <a:rPr sz="1050" b="0">
                <a:solidFill>
                  <a:srgbClr val="181818"/>
                </a:solidFill>
                <a:latin typeface="Ericsson Hilda"/>
              </a:rPr>
              <a:t>AI features (chat, conversion, generation) connect to an LLM. Add a Groq or Gemini key in Settings — or, via MCP, the tool can use your AI client's own model (sampling), so no server key is spent.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37160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174E6"/>
                </a:solidFill>
                <a:latin typeface="Ericsson Hilda"/>
              </a:rPr>
              <a:t>REQUEST FLOW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75564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17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17556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Ericsson Hilda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719072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81818"/>
                </a:solidFill>
                <a:latin typeface="Ericsson Hilda"/>
              </a:rPr>
              <a:t>User asks or triggers a feature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1975104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55555"/>
                </a:solidFill>
                <a:latin typeface="Ericsson Hilda"/>
              </a:rPr>
              <a:t>In the web app, or from an AI client as an MCP tool call.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25420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17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25420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Ericsson Hilda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505456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81818"/>
                </a:solidFill>
                <a:latin typeface="Ericsson Hilda"/>
              </a:rPr>
              <a:t>Core engine does the 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2761487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55555"/>
                </a:solidFill>
                <a:latin typeface="Ericsson Hilda"/>
              </a:rPr>
              <a:t>Scoring, planning, conversion, generation, or parity checks.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3328415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17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328415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Ericsson Hilda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291839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81818"/>
                </a:solidFill>
                <a:latin typeface="Ericsson Hilda"/>
              </a:rPr>
              <a:t>Knowledge base grounds the answer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3547872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55555"/>
                </a:solidFill>
                <a:latin typeface="Ericsson Hilda"/>
              </a:rPr>
              <a:t>Framework facts come from curated data, not guesses.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411480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17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11480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Ericsson Hilda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078224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81818"/>
                </a:solidFill>
                <a:latin typeface="Ericsson Hilda"/>
              </a:rPr>
              <a:t>LLM fills the creative gaps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4334256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55555"/>
                </a:solidFill>
                <a:latin typeface="Ericsson Hilda"/>
              </a:rPr>
              <a:t>Converts/generates code; everything is then validated.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490118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17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490118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Ericsson Hilda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4864608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81818"/>
                </a:solidFill>
                <a:latin typeface="Ericsson Hilda"/>
              </a:rPr>
              <a:t>Verified result returned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51206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55555"/>
                </a:solidFill>
                <a:latin typeface="Ericsson Hilda"/>
              </a:rPr>
              <a:t>Scorecards, converted code, parity reports — reproducible.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852160"/>
            <a:ext cx="11091672" cy="457200"/>
          </a:xfrm>
          <a:prstGeom prst="roundRect">
            <a:avLst>
              <a:gd name="adj" fmla="val 8000"/>
            </a:avLst>
          </a:prstGeom>
          <a:solidFill>
            <a:srgbClr val="FAFCFF"/>
          </a:solidFill>
          <a:ln w="9525">
            <a:solidFill>
              <a:srgbClr val="EA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81818"/>
                </a:solidFill>
                <a:latin typeface="Ericsson Hilda"/>
              </a:rPr>
              <a:t/>
            </a:r>
            <a:r>
              <a:rPr sz="1250" b="1">
                <a:solidFill>
                  <a:srgbClr val="1174E6"/>
                </a:solidFill>
                <a:latin typeface="Ericsson Hilda"/>
              </a:rPr>
              <a:t>Takeaway  </a:t>
            </a:r>
            <a:r>
              <a:rPr sz="1200" b="0">
                <a:solidFill>
                  <a:srgbClr val="181818"/>
                </a:solidFill>
                <a:latin typeface="Ericsson Hilda"/>
              </a:rPr>
              <a:t>Same core engine, two front doors (web app + MCP). An LLM connection powers the AI features; the knowledge base keeps answers grounded.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9601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174E6"/>
                </a:solidFill>
                <a:latin typeface="Ericsson Hilda"/>
              </a:rPr>
              <a:t>TEST AUTOMATION 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81818"/>
                </a:solidFill>
                <a:latin typeface="Ericsson Hilda Light"/>
              </a:rPr>
              <a:t>Five Core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1109167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91672" cy="10972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68712" y="6519672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55555"/>
                </a:solidFill>
                <a:latin typeface="Ericsson Hilda"/>
              </a:rPr>
              <a:t>04 /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55555"/>
                </a:solidFill>
                <a:latin typeface="Ericsson Hilda"/>
              </a:rPr>
              <a:t>Each feature is a guided page in the web app and is also exposed as MCP tools for AI clients.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3602736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A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82296" cy="1572768"/>
          </a:xfrm>
          <a:prstGeom prst="rect">
            <a:avLst/>
          </a:prstGeom>
          <a:solidFill>
            <a:srgbClr val="117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01952"/>
            <a:ext cx="3236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174E6"/>
                </a:solidFill>
                <a:latin typeface="Ericsson Hilda"/>
              </a:rPr>
              <a:t>Test Pilot (Advisor)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21991"/>
            <a:ext cx="319125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930" b="0">
                <a:solidFill>
                  <a:srgbClr val="555555"/>
                </a:solidFill>
                <a:latin typeface="Ericsson Hilda"/>
              </a:rPr>
              <a:t>Chat with an AI agent to compare frameworks, get scored recommendations, and receive phased migration plans tailored to your project.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54096"/>
            <a:ext cx="32369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30" b="1">
                <a:solidFill>
                  <a:srgbClr val="1174E6"/>
                </a:solidFill>
                <a:latin typeface="Ericsson Hilda"/>
              </a:rPr>
              <a:t>• Scoring matrix</a:t>
            </a:r>
            <a:r>
              <a:rPr sz="830" b="1">
                <a:solidFill>
                  <a:srgbClr val="1174E6"/>
                </a:solidFill>
                <a:latin typeface="Ericsson Hilda"/>
              </a:rPr>
              <a:t>   • Migration plan</a:t>
            </a:r>
            <a:r>
              <a:rPr sz="830" b="1">
                <a:solidFill>
                  <a:srgbClr val="1174E6"/>
                </a:solidFill>
                <a:latin typeface="Ericsson Hilda"/>
              </a:rPr>
              <a:t>   • LLM chat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6824" y="1783080"/>
            <a:ext cx="3602736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F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06824" y="1783080"/>
            <a:ext cx="82296" cy="1572768"/>
          </a:xfrm>
          <a:prstGeom prst="rect">
            <a:avLst/>
          </a:prstGeom>
          <a:solidFill>
            <a:srgbClr val="158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5424" y="1901952"/>
            <a:ext cx="3236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58A4D"/>
                </a:solidFill>
                <a:latin typeface="Ericsson Hilda"/>
              </a:rPr>
              <a:t>Framework Migration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2221991"/>
            <a:ext cx="319125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930" b="0">
                <a:solidFill>
                  <a:srgbClr val="555555"/>
                </a:solidFill>
                <a:latin typeface="Ericsson Hilda"/>
              </a:rPr>
              <a:t>Auto-convert test files between frameworks — single paste or full repo upload — preserving every assertion and validating the result.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3054096"/>
            <a:ext cx="32369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30" b="1">
                <a:solidFill>
                  <a:srgbClr val="158A4D"/>
                </a:solidFill>
                <a:latin typeface="Ericsson Hilda"/>
              </a:rPr>
              <a:t>• Auto convert</a:t>
            </a:r>
            <a:r>
              <a:rPr sz="830" b="1">
                <a:solidFill>
                  <a:srgbClr val="158A4D"/>
                </a:solidFill>
                <a:latin typeface="Ericsson Hilda"/>
              </a:rPr>
              <a:t>   • Multi-file</a:t>
            </a:r>
            <a:r>
              <a:rPr sz="830" b="1">
                <a:solidFill>
                  <a:srgbClr val="158A4D"/>
                </a:solidFill>
                <a:latin typeface="Ericsson Hilda"/>
              </a:rPr>
              <a:t>   • Assertion-safe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5008" y="1783080"/>
            <a:ext cx="3602736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DF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5008" y="1783080"/>
            <a:ext cx="82296" cy="1572768"/>
          </a:xfrm>
          <a:prstGeom prst="rect">
            <a:avLst/>
          </a:prstGeom>
          <a:solidFill>
            <a:srgbClr val="E66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1901952"/>
            <a:ext cx="3236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66E19"/>
                </a:solidFill>
                <a:latin typeface="Ericsson Hilda"/>
              </a:rPr>
              <a:t>Test Generator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2221991"/>
            <a:ext cx="319125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930" b="0">
                <a:solidFill>
                  <a:srgbClr val="555555"/>
                </a:solidFill>
                <a:latin typeface="Ericsson Hilda"/>
              </a:rPr>
              <a:t>Turn manual / plain-English test cases into runnable automated code with page objects, fixtures, and run commands.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3054096"/>
            <a:ext cx="32369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30" b="1">
                <a:solidFill>
                  <a:srgbClr val="E66E19"/>
                </a:solidFill>
                <a:latin typeface="Ericsson Hilda"/>
              </a:rPr>
              <a:t>• Manual -&gt; auto</a:t>
            </a:r>
            <a:r>
              <a:rPr sz="830" b="1">
                <a:solidFill>
                  <a:srgbClr val="E66E19"/>
                </a:solidFill>
                <a:latin typeface="Ericsson Hilda"/>
              </a:rPr>
              <a:t>   • Page objects</a:t>
            </a:r>
            <a:r>
              <a:rPr sz="830" b="1">
                <a:solidFill>
                  <a:srgbClr val="E66E19"/>
                </a:solidFill>
                <a:latin typeface="Ericsson Hilda"/>
              </a:rPr>
              <a:t>   • Multi-framework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520439"/>
            <a:ext cx="3602736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FE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520439"/>
            <a:ext cx="82296" cy="1572768"/>
          </a:xfrm>
          <a:prstGeom prst="rect">
            <a:avLst/>
          </a:prstGeom>
          <a:solidFill>
            <a:srgbClr val="6B4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639311"/>
            <a:ext cx="3236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6B4EE6"/>
                </a:solidFill>
                <a:latin typeface="Ericsson Hilda"/>
              </a:rPr>
              <a:t>Repo Comparator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959352"/>
            <a:ext cx="319125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930" b="0">
                <a:solidFill>
                  <a:srgbClr val="555555"/>
                </a:solidFill>
                <a:latin typeface="Ericsson Hilda"/>
              </a:rPr>
              <a:t>Compare two test repos across different frameworks; match cases by name and report assertion-count parity so nothing is silently dropped.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791455"/>
            <a:ext cx="32369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30" b="1">
                <a:solidFill>
                  <a:srgbClr val="6B4EE6"/>
                </a:solidFill>
                <a:latin typeface="Ericsson Hilda"/>
              </a:rPr>
              <a:t>• Cross-repo</a:t>
            </a:r>
            <a:r>
              <a:rPr sz="830" b="1">
                <a:solidFill>
                  <a:srgbClr val="6B4EE6"/>
                </a:solidFill>
                <a:latin typeface="Ericsson Hilda"/>
              </a:rPr>
              <a:t>   • Parity report</a:t>
            </a:r>
            <a:r>
              <a:rPr sz="830" b="1">
                <a:solidFill>
                  <a:srgbClr val="6B4EE6"/>
                </a:solidFill>
                <a:latin typeface="Ericsson Hilda"/>
              </a:rPr>
              <a:t>   • ZIP upload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06824" y="3520439"/>
            <a:ext cx="3602736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A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06824" y="3520439"/>
            <a:ext cx="82296" cy="1572768"/>
          </a:xfrm>
          <a:prstGeom prst="rect">
            <a:avLst/>
          </a:prstGeom>
          <a:solidFill>
            <a:srgbClr val="0B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35424" y="3639311"/>
            <a:ext cx="3236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B4EA8"/>
                </a:solidFill>
                <a:latin typeface="Ericsson Hilda"/>
              </a:rPr>
              <a:t>Coverage Analyzer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35424" y="3959352"/>
            <a:ext cx="319125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930" b="0">
                <a:solidFill>
                  <a:srgbClr val="555555"/>
                </a:solidFill>
                <a:latin typeface="Ericsson Hilda"/>
              </a:rPr>
              <a:t>Upload test cases (Excel / JSON / CSV) and see what percentage each framework actually covers, with a full matrix and gap details.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35424" y="4791455"/>
            <a:ext cx="32369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30" b="1">
                <a:solidFill>
                  <a:srgbClr val="0B4EA8"/>
                </a:solidFill>
                <a:latin typeface="Ericsson Hilda"/>
              </a:rPr>
              <a:t>• Excel upload</a:t>
            </a:r>
            <a:r>
              <a:rPr sz="830" b="1">
                <a:solidFill>
                  <a:srgbClr val="0B4EA8"/>
                </a:solidFill>
                <a:latin typeface="Ericsson Hilda"/>
              </a:rPr>
              <a:t>   • Coverage matrix</a:t>
            </a:r>
            <a:r>
              <a:rPr sz="830" b="1">
                <a:solidFill>
                  <a:srgbClr val="0B4EA8"/>
                </a:solidFill>
                <a:latin typeface="Ericsson Hilda"/>
              </a:rPr>
              <a:t>   • Best-fit rank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65008" y="3520439"/>
            <a:ext cx="3602736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C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65008" y="3520439"/>
            <a:ext cx="82296" cy="1572768"/>
          </a:xfrm>
          <a:prstGeom prst="rect">
            <a:avLst/>
          </a:prstGeom>
          <a:solidFill>
            <a:srgbClr val="E65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93608" y="3639311"/>
            <a:ext cx="3236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65D6A"/>
                </a:solidFill>
                <a:latin typeface="Ericsson Hilda"/>
              </a:rPr>
              <a:t>Team Profiles  (+)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93608" y="3959352"/>
            <a:ext cx="319125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930" b="0">
                <a:solidFill>
                  <a:srgbClr val="555555"/>
                </a:solidFill>
                <a:latin typeface="Ericsson Hilda"/>
              </a:rPr>
              <a:t>Per-team coding standards, conversion rules, and reference docs so generated code matches how each team actually works.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93608" y="4791455"/>
            <a:ext cx="32369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30" b="1">
                <a:solidFill>
                  <a:srgbClr val="E65D6A"/>
                </a:solidFill>
                <a:latin typeface="Ericsson Hilda"/>
              </a:rPr>
              <a:t>• Custom rules</a:t>
            </a:r>
            <a:r>
              <a:rPr sz="830" b="1">
                <a:solidFill>
                  <a:srgbClr val="E65D6A"/>
                </a:solidFill>
                <a:latin typeface="Ericsson Hilda"/>
              </a:rPr>
              <a:t>   • Reference docs</a:t>
            </a:r>
            <a:r>
              <a:rPr sz="830" b="1">
                <a:solidFill>
                  <a:srgbClr val="E65D6A"/>
                </a:solidFill>
                <a:latin typeface="Ericsson Hilda"/>
              </a:rPr>
              <a:t>   • Export / import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852160"/>
            <a:ext cx="11091672" cy="457200"/>
          </a:xfrm>
          <a:prstGeom prst="roundRect">
            <a:avLst>
              <a:gd name="adj" fmla="val 8000"/>
            </a:avLst>
          </a:prstGeom>
          <a:solidFill>
            <a:srgbClr val="FAFCFF"/>
          </a:solidFill>
          <a:ln w="9525">
            <a:solidFill>
              <a:srgbClr val="EA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81818"/>
                </a:solidFill>
                <a:latin typeface="Ericsson Hilda"/>
              </a:rPr>
              <a:t/>
            </a:r>
            <a:r>
              <a:rPr sz="1250" b="1">
                <a:solidFill>
                  <a:srgbClr val="1174E6"/>
                </a:solidFill>
                <a:latin typeface="Ericsson Hilda"/>
              </a:rPr>
              <a:t>Takeaway  </a:t>
            </a:r>
            <a:r>
              <a:rPr sz="1200" b="0">
                <a:solidFill>
                  <a:srgbClr val="181818"/>
                </a:solidFill>
                <a:latin typeface="Ericsson Hilda"/>
              </a:rPr>
              <a:t>Five features cover the whole journey: choose -&gt; migrate -&gt; generate -&gt; verify, with per-team customization on top.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9601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174E6"/>
                </a:solidFill>
                <a:latin typeface="Ericsson Hilda"/>
              </a:rPr>
              <a:t>TEST AUTOMATION 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81818"/>
                </a:solidFill>
                <a:latin typeface="Ericsson Hilda Light"/>
              </a:rPr>
              <a:t>Connect an LLM &amp; Configure via MCP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1109167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91672" cy="10972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68712" y="6519672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55555"/>
                </a:solidFill>
                <a:latin typeface="Ericsson Hilda"/>
              </a:rPr>
              <a:t>05 / 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5394960" cy="365760"/>
          </a:xfrm>
          <a:prstGeom prst="roundRect">
            <a:avLst>
              <a:gd name="adj" fmla="val 8000"/>
            </a:avLst>
          </a:prstGeom>
          <a:solidFill>
            <a:srgbClr val="EA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5120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B4EA8"/>
                </a:solidFill>
                <a:latin typeface="Ericsson Hilda"/>
              </a:rPr>
              <a:t>1 — Connect an LLM provider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53949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080" b="0">
                <a:solidFill>
                  <a:srgbClr val="181818"/>
                </a:solidFill>
                <a:latin typeface="Ericsson Hilda"/>
              </a:rPr>
              <a:t>•  Groq or Gemini API key — added in the app's Settings, saved to config/.env, effective immediately (no restart).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080" b="0">
                <a:solidFill>
                  <a:srgbClr val="181818"/>
                </a:solidFill>
                <a:latin typeface="Ericsson Hilda"/>
              </a:rPr>
              <a:t>•  Or over MCP, use your AI client's own model via sampling — the server spends no key of its own.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080" b="0">
                <a:solidFill>
                  <a:srgbClr val="181818"/>
                </a:solidFill>
                <a:latin typeface="Ericsson Hilda"/>
              </a:rPr>
              <a:t>•  Falls back to GROQ_API_KEY automatically if the client can't sample.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080" b="0">
                <a:solidFill>
                  <a:srgbClr val="181818"/>
                </a:solidFill>
                <a:latin typeface="Ericsson Hilda"/>
              </a:rPr>
              <a:t>•  Non-AI features (scoring, coverage, parity) work with no key at all.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03320"/>
            <a:ext cx="5394960" cy="1143000"/>
          </a:xfrm>
          <a:prstGeom prst="roundRect">
            <a:avLst>
              <a:gd name="adj" fmla="val 8000"/>
            </a:avLst>
          </a:prstGeom>
          <a:solidFill>
            <a:srgbClr val="1E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3776472"/>
            <a:ext cx="5120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CE6F2"/>
                </a:solidFill>
                <a:latin typeface="Consolas"/>
              </a:rPr>
              <a:t># config/.env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CE6F2"/>
                </a:solidFill>
                <a:latin typeface="Consolas"/>
              </a:rPr>
              <a:t>GROQ_API_KEY = gsk_...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CE6F2"/>
                </a:solidFill>
                <a:latin typeface="Consolas"/>
              </a:rPr>
              <a:t>GROQ_MODEL   = qwen/qwen3-32b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CE6F2"/>
                </a:solidFill>
                <a:latin typeface="Consolas"/>
              </a:rPr>
              <a:t># or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CE6F2"/>
                </a:solidFill>
                <a:latin typeface="Consolas"/>
              </a:rPr>
              <a:t>GEMINI_API_KEY = AIza...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029200"/>
            <a:ext cx="5394960" cy="365760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5120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58A4D"/>
                </a:solidFill>
                <a:latin typeface="Ericsson Hilda"/>
              </a:rPr>
              <a:t>Works with: Groq  •  Gemini  •  client model (MCP)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1325880"/>
            <a:ext cx="5394960" cy="365760"/>
          </a:xfrm>
          <a:prstGeom prst="roundRect">
            <a:avLst>
              <a:gd name="adj" fmla="val 8000"/>
            </a:avLst>
          </a:prstGeom>
          <a:solidFill>
            <a:srgbClr val="EFE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325880"/>
            <a:ext cx="5120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4EE6"/>
                </a:solidFill>
                <a:latin typeface="Ericsson Hilda"/>
              </a:rPr>
              <a:t>2 — Configure as an MCP 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1828800"/>
            <a:ext cx="53949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080" b="0">
                <a:solidFill>
                  <a:srgbClr val="181818"/>
                </a:solidFill>
                <a:latin typeface="Ericsson Hilda"/>
              </a:rPr>
              <a:t>•  Register the server once in mcp.json; the AI client launches it over stdio and all 20+ tools become callable from chat.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080" b="0">
                <a:solidFill>
                  <a:srgbClr val="181818"/>
                </a:solidFill>
                <a:latin typeface="Ericsson Hilda"/>
              </a:rPr>
              <a:t>•  DEFAULT_TEAM_PROFILE pins a team's rules for every call automatically.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080" b="0">
                <a:solidFill>
                  <a:srgbClr val="181818"/>
                </a:solidFill>
                <a:latin typeface="Ericsson Hilda"/>
              </a:rPr>
              <a:t>•  No UI needed — drive the whole advisor from your assistant.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342900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1E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9944" y="3502152"/>
            <a:ext cx="51206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DCE6F2"/>
                </a:solidFill>
                <a:latin typeface="Consolas"/>
              </a:rPr>
              <a:t>"mcpServers": {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DCE6F2"/>
                </a:solidFill>
                <a:latin typeface="Consolas"/>
              </a:rPr>
              <a:t>  "automation-framework-advisor": {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DCE6F2"/>
                </a:solidFill>
                <a:latin typeface="Consolas"/>
              </a:rPr>
              <a:t>    "command": "python",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DCE6F2"/>
                </a:solidFill>
                <a:latin typeface="Consolas"/>
              </a:rPr>
              <a:t>    "args": ["mcp_server/server.py"],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DCE6F2"/>
                </a:solidFill>
                <a:latin typeface="Consolas"/>
              </a:rPr>
              <a:t>    "env": {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DCE6F2"/>
                </a:solidFill>
                <a:latin typeface="Consolas"/>
              </a:rPr>
              <a:t>      "DEFAULT_TEAM_PROFILE": "team_alpha"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DCE6F2"/>
                </a:solidFill>
                <a:latin typeface="Consolas"/>
              </a:rPr>
              <a:t>    }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DCE6F2"/>
                </a:solidFill>
                <a:latin typeface="Consolas"/>
              </a:rPr>
              <a:t>  }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DCE6F2"/>
                </a:solidFill>
                <a:latin typeface="Consolas"/>
              </a:rPr>
              <a:t>}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852160"/>
            <a:ext cx="11091672" cy="457200"/>
          </a:xfrm>
          <a:prstGeom prst="roundRect">
            <a:avLst>
              <a:gd name="adj" fmla="val 8000"/>
            </a:avLst>
          </a:prstGeom>
          <a:solidFill>
            <a:srgbClr val="FAFCFF"/>
          </a:solidFill>
          <a:ln w="9525">
            <a:solidFill>
              <a:srgbClr val="EA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81818"/>
                </a:solidFill>
                <a:latin typeface="Ericsson Hilda"/>
              </a:rPr>
              <a:t/>
            </a:r>
            <a:r>
              <a:rPr sz="1250" b="1">
                <a:solidFill>
                  <a:srgbClr val="1174E6"/>
                </a:solidFill>
                <a:latin typeface="Ericsson Hilda"/>
              </a:rPr>
              <a:t>Takeaway  </a:t>
            </a:r>
            <a:r>
              <a:rPr sz="1200" b="0">
                <a:solidFill>
                  <a:srgbClr val="181818"/>
                </a:solidFill>
                <a:latin typeface="Ericsson Hilda"/>
              </a:rPr>
              <a:t>Plug in one LLM key — or none, via MCP sampling — and the whole advisor is usable from the web app or straight inside your AI assistant.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